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21295C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 panose="020B0604020202020204"/>
              </a:rPr>
              <a:t>Treatment &amp; Benefits Rate, 2017–2021</a:t>
            </a:r>
            <a:endParaRPr sz="1300" b="0" i="0" u="none" strike="noStrike">
              <a:solidFill>
                <a:srgbClr val="21295C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%</c:v>
                </c:pt>
              </c:strCache>
            </c:strRef>
          </c:tx>
          <c:spPr>
            <a:ln w="31750" cap="flat" cmpd="sng" algn="ctr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 cmpd="sng" algn="ctr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60.8</c:v>
                </c:pt>
                <c:pt idx="1">
                  <c:v>58.3</c:v>
                </c:pt>
                <c:pt idx="2">
                  <c:v>62.2</c:v>
                </c:pt>
                <c:pt idx="3">
                  <c:v>50.3</c:v>
                </c:pt>
                <c:pt idx="4">
                  <c:v>54.2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Benefits %</c:v>
                </c:pt>
              </c:strCache>
            </c:strRef>
          </c:tx>
          <c:spPr>
            <a:ln w="31750" cap="flat" cmpd="sng" algn="ctr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 cmpd="sng" algn="ctr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58.2</c:v>
                </c:pt>
                <c:pt idx="1">
                  <c:v>55.1</c:v>
                </c:pt>
                <c:pt idx="2">
                  <c:v>60.8</c:v>
                </c:pt>
                <c:pt idx="3">
                  <c:v>48.5</c:v>
                </c:pt>
                <c:pt idx="4">
                  <c:v>52.7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40"/>
        </c:scaling>
        <c:delete val="0"/>
        <c:axPos val="l"/>
        <c:majorGridlines>
          <c:spPr>
            <a:ln w="12700" cap="flat" cmpd="sng" algn="ctr">
              <a:solidFill>
                <a:srgbClr val="E1E7ED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5B6B7A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000" b="0" i="0" u="none" strike="noStrike">
                    <a:solidFill>
                      <a:srgbClr val="5B6B7A"/>
                    </a:solidFill>
                    <a:latin typeface="Arial" panose="020B0604020202020204"/>
                  </a:rPr>
                  <a:t>% Rate</a:t>
                </a:r>
                <a:endParaRPr sz="1000" b="0" i="0" u="none" strike="noStrike">
                  <a:solidFill>
                    <a:srgbClr val="5B6B7A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2a71dd8-9ef2-433d-bba5-fddbc41096bd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21295C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 panose="020B0604020202020204"/>
              </a:rPr>
              <a:t>Treatment Rate by Region</a:t>
            </a:r>
            <a:endParaRPr sz="1300" b="0" i="0" u="none" strike="noStrike">
              <a:solidFill>
                <a:srgbClr val="21295C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Rate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21295C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North America</c:v>
                </c:pt>
                <c:pt idx="1">
                  <c:v>Oceania</c:v>
                </c:pt>
                <c:pt idx="2">
                  <c:v>South America</c:v>
                </c:pt>
                <c:pt idx="3">
                  <c:v>Europe</c:v>
                </c:pt>
                <c:pt idx="4">
                  <c:v>Africa</c:v>
                </c:pt>
                <c:pt idx="5">
                  <c:v>Asia</c:v>
                </c:pt>
                <c:pt idx="6">
                  <c:v>Middle East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68.1</c:v>
                </c:pt>
                <c:pt idx="1">
                  <c:v>63.3</c:v>
                </c:pt>
                <c:pt idx="2">
                  <c:v>46.7</c:v>
                </c:pt>
                <c:pt idx="3">
                  <c:v>46.4</c:v>
                </c:pt>
                <c:pt idx="4">
                  <c:v>30</c:v>
                </c:pt>
                <c:pt idx="5">
                  <c:v>23.4</c:v>
                </c:pt>
                <c:pt idx="6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5B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12700" cap="flat" cmpd="sng" algn="ctr">
              <a:solidFill>
                <a:srgbClr val="E1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5B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8d72c4c-7c55-4130-aed7-c91555a63deb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21295C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21295C"/>
                </a:solidFill>
                <a:latin typeface="Arial" panose="020B0604020202020204"/>
              </a:rPr>
              <a:t>Treatment Rate: Tech vs. Non-Tech</a:t>
            </a:r>
            <a:endParaRPr sz="1200" b="0" i="0" u="none" strike="noStrike">
              <a:solidFill>
                <a:srgbClr val="21295C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Rate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21295C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Tech Sector</c:v>
                </c:pt>
                <c:pt idx="1">
                  <c:v>Non-Tech Sector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59.4</c:v>
                </c:pt>
                <c:pt idx="1">
                  <c:v>58.5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 cmpd="sng" algn="ctr">
              <a:solidFill>
                <a:srgbClr val="E1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5B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438448b-49b6-432d-8e10-5e2aa58855d2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Openness %</c:v>
                </c:pt>
              </c:strCache>
            </c:strRef>
          </c:tx>
          <c:spPr>
            <a:solidFill>
              <a:srgbClr val="C97B2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21295C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28.4</c:v>
                </c:pt>
                <c:pt idx="1">
                  <c:v>22.2</c:v>
                </c:pt>
                <c:pt idx="2">
                  <c:v>21.4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l"/>
        <c:majorGridlines>
          <c:spPr>
            <a:ln w="12700" cap="flat" cmpd="sng" algn="ctr">
              <a:solidFill>
                <a:srgbClr val="E1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5B6B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fa9caae-108d-4caa-a176-d44d99064172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931920"/>
            <a:ext cx="4206240" cy="4206240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3" name="Shape 1"/>
          <p:cNvSpPr/>
          <p:nvPr/>
        </p:nvSpPr>
        <p:spPr>
          <a:xfrm>
            <a:off x="9692640" y="4572000"/>
            <a:ext cx="2926080" cy="2926080"/>
          </a:xfrm>
          <a:prstGeom prst="ellipse">
            <a:avLst/>
          </a:prstGeom>
          <a:solidFill>
            <a:srgbClr val="16224A"/>
          </a:solidFill>
        </p:spPr>
      </p:sp>
      <p:sp>
        <p:nvSpPr>
          <p:cNvPr id="4" name="Shape 2"/>
          <p:cNvSpPr/>
          <p:nvPr/>
        </p:nvSpPr>
        <p:spPr>
          <a:xfrm>
            <a:off x="10287000" y="5166360"/>
            <a:ext cx="1737360" cy="173736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5" name="Text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DATABASE &amp; DATA ANALYSIS PROJECT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Mental Health in Tech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Workplace Support &amp; Treatment Drivers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Executive Analysis of 1,829 Tech &amp; Non-Tech Professionals Across 2017–2021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38160" y="36576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</p:sp>
      <p:sp>
        <p:nvSpPr>
          <p:cNvPr id="10" name="Text 8"/>
          <p:cNvSpPr txBox="1"/>
          <p:nvPr/>
        </p:nvSpPr>
        <p:spPr>
          <a:xfrm>
            <a:off x="8138160" y="3657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ACTIONABLE INSIGHTS IDENTIFIED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2648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Team:  </a:t>
            </a:r>
            <a:r>
              <a:rPr lang="en-US" sz="1150" dirty="0">
                <a:solidFill>
                  <a:srgbClr val="9FB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Maria Zaman, Masooma, Faryal    </a:t>
            </a:r>
            <a:r>
              <a:rPr lang="en-US" sz="11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|  Tooling:  </a:t>
            </a:r>
            <a:r>
              <a:rPr lang="en-US" sz="1150" dirty="0">
                <a:solidFill>
                  <a:srgbClr val="9FB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   </a:t>
            </a:r>
            <a:r>
              <a:rPr lang="en-US" sz="11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|  Dataset:  </a:t>
            </a:r>
            <a:r>
              <a:rPr lang="en-US" sz="1150" dirty="0">
                <a:solidFill>
                  <a:srgbClr val="9FB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OSMI Survey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DATA WAS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 turned one messy survey file into a clean, organized database.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295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49057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Three Steps to Clean 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365760" cy="36576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578608"/>
            <a:ext cx="389991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 the Raw Survey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62072"/>
            <a:ext cx="38999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1,836 responses loaded from the OSMI survey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99008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319272"/>
            <a:ext cx="365760" cy="36576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2" name="Text 10"/>
          <p:cNvSpPr txBox="1"/>
          <p:nvPr/>
        </p:nvSpPr>
        <p:spPr>
          <a:xfrm>
            <a:off x="777240" y="33192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291840"/>
            <a:ext cx="389991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and Check the Data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75304"/>
            <a:ext cx="38999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1,829 valid responses kept, ages 15–100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05256" y="370332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032504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7" name="Text 15"/>
          <p:cNvSpPr txBox="1"/>
          <p:nvPr/>
        </p:nvSpPr>
        <p:spPr>
          <a:xfrm>
            <a:off x="777240" y="40325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05072"/>
            <a:ext cx="389991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Organize Into 5 Linked Tables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288536"/>
            <a:ext cx="38999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Makes it easy to compare any two factors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7356" y="1828800"/>
            <a:ext cx="5362956" cy="3200400"/>
          </a:xfrm>
          <a:prstGeom prst="roundRect">
            <a:avLst>
              <a:gd name="adj" fmla="val 2286"/>
            </a:avLst>
          </a:prstGeom>
          <a:solidFill>
            <a:srgbClr val="21295C"/>
          </a:solidFill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05956" y="2011680"/>
            <a:ext cx="49057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Techniques Used in the Analysis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05956" y="2606040"/>
            <a:ext cx="292608" cy="29260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3" name="Text 21"/>
          <p:cNvSpPr txBox="1"/>
          <p:nvPr/>
        </p:nvSpPr>
        <p:spPr>
          <a:xfrm>
            <a:off x="6505956" y="26060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17436" y="2551176"/>
            <a:ext cx="449427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Step-by-Step Queries  —  </a:t>
            </a: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 complex questions into simple, readable steps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05956" y="3172968"/>
            <a:ext cx="292608" cy="29260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6" name="Text 24"/>
          <p:cNvSpPr txBox="1"/>
          <p:nvPr/>
        </p:nvSpPr>
        <p:spPr>
          <a:xfrm>
            <a:off x="6505956" y="31729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17436" y="3118104"/>
            <a:ext cx="449427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Year-over-Year Comparison  —  </a:t>
            </a: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each year to the one before it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05956" y="3739896"/>
            <a:ext cx="292608" cy="29260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9" name="Text 27"/>
          <p:cNvSpPr txBox="1"/>
          <p:nvPr/>
        </p:nvSpPr>
        <p:spPr>
          <a:xfrm>
            <a:off x="6505956" y="373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917436" y="3685032"/>
            <a:ext cx="449427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Linking  —  </a:t>
            </a: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related tables without double-counting anyone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05956" y="4306824"/>
            <a:ext cx="292608" cy="29260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2" name="Text 30"/>
          <p:cNvSpPr txBox="1"/>
          <p:nvPr/>
        </p:nvSpPr>
        <p:spPr>
          <a:xfrm>
            <a:off x="6505956" y="430682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917436" y="4251960"/>
            <a:ext cx="449427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 Scoring  —  </a:t>
            </a: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 how closely two trends move together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AF1F7"/>
          </a:solidFill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22960" y="5257800"/>
            <a:ext cx="105430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clean, organized database means every comparison in this report counts each person exactly once.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2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More people are getting help, but fewer feel safe talking about it at work.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56232"/>
            <a:ext cx="3209544" cy="7086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58.9%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71166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employees have sought treatment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(1,077 of 1,829 people)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52544" y="1691640"/>
            <a:ext cx="348386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89704" y="1856232"/>
            <a:ext cx="3209544" cy="7086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77.7%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489704" y="2471166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seek treatment if they have a family history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(vs. 29.7% without)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56448" y="1691640"/>
            <a:ext cx="348386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93608" y="1856232"/>
            <a:ext cx="3209544" cy="7086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7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28.4% → 21.4%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2471166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in comfort discussing mental health at work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(2019 to 2021)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Makes the Biggest Difference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348386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69080"/>
            <a:ext cx="310896" cy="31089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6" name="Text 14"/>
          <p:cNvSpPr txBox="1"/>
          <p:nvPr/>
        </p:nvSpPr>
        <p:spPr>
          <a:xfrm>
            <a:off x="731520" y="40690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4023360"/>
            <a:ext cx="27066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Having Benefits Helps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3891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70.5% seek care with employer coverage, vs. 45.9% without — a 24.6-point gap.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52544" y="3886200"/>
            <a:ext cx="348386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35424" y="4069080"/>
            <a:ext cx="310896" cy="31089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21" name="Text 19"/>
          <p:cNvSpPr txBox="1"/>
          <p:nvPr/>
        </p:nvSpPr>
        <p:spPr>
          <a:xfrm>
            <a:off x="4535424" y="40690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974336" y="4023360"/>
            <a:ext cx="27066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You Live Matters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35424" y="43891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68.1% in North America seek care, vs. just 10.0% in the Middle East.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56448" y="3886200"/>
            <a:ext cx="348386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9328" y="4069080"/>
            <a:ext cx="310896" cy="31089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26" name="Text 24"/>
          <p:cNvSpPr txBox="1"/>
          <p:nvPr/>
        </p:nvSpPr>
        <p:spPr>
          <a:xfrm>
            <a:off x="8339328" y="40690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4023360"/>
            <a:ext cx="27066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vs. Non-Tech: No Real Gap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339328" y="43891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59.4% in tech vs. 58.5% outside tech — practically the same.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AF1F7"/>
          </a:solidFill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2960" y="5257800"/>
            <a:ext cx="105430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are still seeking help on their own — but they've become less willing to talk about it at work since 2019.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2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DRIVES TREATMENT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Family history and benefits change the odds most — what industry you're in barely matters.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514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Everyone (Average)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0" y="1883664"/>
            <a:ext cx="6976872" cy="457200"/>
          </a:xfrm>
          <a:prstGeom prst="roundRect">
            <a:avLst>
              <a:gd name="adj" fmla="val 8000"/>
            </a:avLst>
          </a:prstGeom>
          <a:solidFill>
            <a:srgbClr val="E7ECF1"/>
          </a:solidFill>
        </p:spPr>
      </p:sp>
      <p:sp>
        <p:nvSpPr>
          <p:cNvPr id="6" name="Shape 4"/>
          <p:cNvSpPr/>
          <p:nvPr/>
        </p:nvSpPr>
        <p:spPr>
          <a:xfrm>
            <a:off x="3200400" y="1883664"/>
            <a:ext cx="4565975" cy="457200"/>
          </a:xfrm>
          <a:prstGeom prst="roundRect">
            <a:avLst>
              <a:gd name="adj" fmla="val 8000"/>
            </a:avLst>
          </a:prstGeom>
          <a:solidFill>
            <a:srgbClr val="21295C"/>
          </a:solidFill>
        </p:spPr>
      </p:sp>
      <p:sp>
        <p:nvSpPr>
          <p:cNvPr id="7" name="Text 5"/>
          <p:cNvSpPr txBox="1"/>
          <p:nvPr/>
        </p:nvSpPr>
        <p:spPr>
          <a:xfrm>
            <a:off x="7857815" y="1828800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58.9%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05456"/>
            <a:ext cx="2514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 Family History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0" y="2560320"/>
            <a:ext cx="6976872" cy="457200"/>
          </a:xfrm>
          <a:prstGeom prst="roundRect">
            <a:avLst>
              <a:gd name="adj" fmla="val 8000"/>
            </a:avLst>
          </a:prstGeom>
          <a:solidFill>
            <a:srgbClr val="E7ECF1"/>
          </a:solidFill>
        </p:spPr>
      </p:sp>
      <p:sp>
        <p:nvSpPr>
          <p:cNvPr id="10" name="Shape 8"/>
          <p:cNvSpPr/>
          <p:nvPr/>
        </p:nvSpPr>
        <p:spPr>
          <a:xfrm>
            <a:off x="3200400" y="2560320"/>
            <a:ext cx="6023366" cy="457200"/>
          </a:xfrm>
          <a:prstGeom prst="roundRect">
            <a:avLst>
              <a:gd name="adj" fmla="val 8000"/>
            </a:avLst>
          </a:prstGeom>
          <a:solidFill>
            <a:srgbClr val="1C7293"/>
          </a:solidFill>
        </p:spPr>
      </p:sp>
      <p:sp>
        <p:nvSpPr>
          <p:cNvPr id="11" name="Text 9"/>
          <p:cNvSpPr txBox="1"/>
          <p:nvPr/>
        </p:nvSpPr>
        <p:spPr>
          <a:xfrm>
            <a:off x="9315206" y="2505456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77.7%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505456"/>
            <a:ext cx="574904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+18.8 pts above average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182112"/>
            <a:ext cx="2514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Family History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0" y="3236976"/>
            <a:ext cx="6976872" cy="457200"/>
          </a:xfrm>
          <a:prstGeom prst="roundRect">
            <a:avLst>
              <a:gd name="adj" fmla="val 8000"/>
            </a:avLst>
          </a:prstGeom>
          <a:solidFill>
            <a:srgbClr val="E7ECF1"/>
          </a:solidFill>
        </p:spPr>
      </p:sp>
      <p:sp>
        <p:nvSpPr>
          <p:cNvPr id="15" name="Shape 13"/>
          <p:cNvSpPr/>
          <p:nvPr/>
        </p:nvSpPr>
        <p:spPr>
          <a:xfrm>
            <a:off x="3200400" y="3236976"/>
            <a:ext cx="2302368" cy="457200"/>
          </a:xfrm>
          <a:prstGeom prst="roundRect">
            <a:avLst>
              <a:gd name="adj" fmla="val 8000"/>
            </a:avLst>
          </a:prstGeom>
          <a:solidFill>
            <a:srgbClr val="C97B2E"/>
          </a:solidFill>
        </p:spPr>
      </p:sp>
      <p:sp>
        <p:nvSpPr>
          <p:cNvPr id="16" name="Text 14"/>
          <p:cNvSpPr txBox="1"/>
          <p:nvPr/>
        </p:nvSpPr>
        <p:spPr>
          <a:xfrm>
            <a:off x="5594208" y="3182112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29.7%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182112"/>
            <a:ext cx="20280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−29.2 pts below average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58768"/>
            <a:ext cx="2514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 Employer Benefits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0" y="3913632"/>
            <a:ext cx="6976872" cy="457200"/>
          </a:xfrm>
          <a:prstGeom prst="roundRect">
            <a:avLst>
              <a:gd name="adj" fmla="val 8000"/>
            </a:avLst>
          </a:prstGeom>
          <a:solidFill>
            <a:srgbClr val="E7ECF1"/>
          </a:solidFill>
        </p:spPr>
      </p:sp>
      <p:sp>
        <p:nvSpPr>
          <p:cNvPr id="20" name="Shape 18"/>
          <p:cNvSpPr/>
          <p:nvPr/>
        </p:nvSpPr>
        <p:spPr>
          <a:xfrm>
            <a:off x="3200400" y="3913632"/>
            <a:ext cx="5465216" cy="457200"/>
          </a:xfrm>
          <a:prstGeom prst="roundRect">
            <a:avLst>
              <a:gd name="adj" fmla="val 8000"/>
            </a:avLst>
          </a:prstGeom>
          <a:solidFill>
            <a:srgbClr val="1C7293"/>
          </a:solidFill>
        </p:spPr>
      </p:sp>
      <p:sp>
        <p:nvSpPr>
          <p:cNvPr id="21" name="Text 19"/>
          <p:cNvSpPr txBox="1"/>
          <p:nvPr/>
        </p:nvSpPr>
        <p:spPr>
          <a:xfrm>
            <a:off x="8757056" y="3858768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70.5%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3858768"/>
            <a:ext cx="519089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+11.6 pts above average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535424"/>
            <a:ext cx="2514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Employer Benefits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0" y="4590288"/>
            <a:ext cx="6976872" cy="457200"/>
          </a:xfrm>
          <a:prstGeom prst="roundRect">
            <a:avLst>
              <a:gd name="adj" fmla="val 8000"/>
            </a:avLst>
          </a:prstGeom>
          <a:solidFill>
            <a:srgbClr val="E7ECF1"/>
          </a:solidFill>
        </p:spPr>
      </p:sp>
      <p:sp>
        <p:nvSpPr>
          <p:cNvPr id="25" name="Shape 23"/>
          <p:cNvSpPr/>
          <p:nvPr/>
        </p:nvSpPr>
        <p:spPr>
          <a:xfrm>
            <a:off x="3200400" y="4590288"/>
            <a:ext cx="3558205" cy="457200"/>
          </a:xfrm>
          <a:prstGeom prst="roundRect">
            <a:avLst>
              <a:gd name="adj" fmla="val 8000"/>
            </a:avLst>
          </a:prstGeom>
          <a:solidFill>
            <a:srgbClr val="C97B2E"/>
          </a:solidFill>
        </p:spPr>
      </p:sp>
      <p:sp>
        <p:nvSpPr>
          <p:cNvPr id="26" name="Text 24"/>
          <p:cNvSpPr txBox="1"/>
          <p:nvPr/>
        </p:nvSpPr>
        <p:spPr>
          <a:xfrm>
            <a:off x="6850045" y="4535424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45.9%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4535424"/>
            <a:ext cx="328388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−13.0 pts below average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8064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AF1F7"/>
          </a:solidFill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22960" y="5806440"/>
            <a:ext cx="105430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history is the single biggest factor: a 48-point gap between people who have it and people who don't.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2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Six Things Worth Knowing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8483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Common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302666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58.9% of the 1,829 people surveyed have sought treatment.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82880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2057400"/>
            <a:ext cx="384048" cy="38404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1" name="Text 9"/>
          <p:cNvSpPr txBox="1"/>
          <p:nvPr/>
        </p:nvSpPr>
        <p:spPr>
          <a:xfrm>
            <a:off x="4581144" y="20574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29784" y="208483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 Gap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2697480"/>
            <a:ext cx="302666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Women seek care more often (64–69%) than men (44–56%).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82880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5048" y="2057400"/>
            <a:ext cx="384048" cy="38404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6" name="Text 14"/>
          <p:cNvSpPr txBox="1"/>
          <p:nvPr/>
        </p:nvSpPr>
        <p:spPr>
          <a:xfrm>
            <a:off x="8385048" y="20574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33688" y="208483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Biggest Factor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85048" y="2697480"/>
            <a:ext cx="302666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history matters most: 77.7% vs. 29.7% treatment rate.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51960"/>
            <a:ext cx="384048" cy="38404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1" name="Text 19"/>
          <p:cNvSpPr txBox="1"/>
          <p:nvPr/>
        </p:nvSpPr>
        <p:spPr>
          <a:xfrm>
            <a:off x="777240" y="4251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27939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Workplace Benefits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892040"/>
            <a:ext cx="302666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Having coverage boosts treatment by 24.6 points.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52544" y="402336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81144" y="4251960"/>
            <a:ext cx="384048" cy="38404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26" name="Text 24"/>
          <p:cNvSpPr txBox="1"/>
          <p:nvPr/>
        </p:nvSpPr>
        <p:spPr>
          <a:xfrm>
            <a:off x="4581144" y="4251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29784" y="427939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You Live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892040"/>
            <a:ext cx="302666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Huge swing by region — 68.1% in North America vs. 10.0% in the Middle East.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56448" y="4023360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85048" y="4251960"/>
            <a:ext cx="384048" cy="38404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1" name="Text 29"/>
          <p:cNvSpPr txBox="1"/>
          <p:nvPr/>
        </p:nvSpPr>
        <p:spPr>
          <a:xfrm>
            <a:off x="8385048" y="4251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933688" y="4279392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vs. Other Industries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85048" y="4892040"/>
            <a:ext cx="302666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Barely any difference — less than 1% apart.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2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TRENDS OVER TIME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Treatment rates dropped sharply in 2020, then started to recover in 2021.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67665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965960"/>
            <a:ext cx="4142232" cy="512064"/>
          </a:xfrm>
          <a:prstGeom prst="rect">
            <a:avLst/>
          </a:prstGeom>
          <a:solidFill>
            <a:srgbClr val="21295C"/>
          </a:solidFill>
          <a:ln w="6350">
            <a:solidFill>
              <a:srgbClr val="E1E7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0" y="1965960"/>
            <a:ext cx="994136" cy="512064"/>
          </a:xfrm>
          <a:prstGeom prst="rect">
            <a:avLst/>
          </a:prstGeom>
          <a:noFill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492216" y="1965960"/>
            <a:ext cx="911291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9403507" y="1965960"/>
            <a:ext cx="1118403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521909" y="1965960"/>
            <a:ext cx="1118403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Shift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98080" y="2478024"/>
            <a:ext cx="4142232" cy="512064"/>
          </a:xfrm>
          <a:prstGeom prst="rect">
            <a:avLst/>
          </a:prstGeom>
          <a:solidFill>
            <a:srgbClr val="EEF3F7"/>
          </a:solidFill>
          <a:ln w="6350">
            <a:solidFill>
              <a:srgbClr val="E1E7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0" y="2478024"/>
            <a:ext cx="994136" cy="512064"/>
          </a:xfrm>
          <a:prstGeom prst="rect">
            <a:avLst/>
          </a:prstGeom>
          <a:noFill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2017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492216" y="2478024"/>
            <a:ext cx="911291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756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403507" y="2478024"/>
            <a:ext cx="1118403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60.8%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521909" y="2478024"/>
            <a:ext cx="1118403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498080" y="2990088"/>
            <a:ext cx="41422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0" y="2990088"/>
            <a:ext cx="994136" cy="512064"/>
          </a:xfrm>
          <a:prstGeom prst="rect">
            <a:avLst/>
          </a:prstGeom>
          <a:noFill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2018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492216" y="2990088"/>
            <a:ext cx="911291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417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9403507" y="2990088"/>
            <a:ext cx="1118403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58.3%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0521909" y="2990088"/>
            <a:ext cx="1118403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7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-2.5%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98080" y="3502152"/>
            <a:ext cx="4142232" cy="512064"/>
          </a:xfrm>
          <a:prstGeom prst="rect">
            <a:avLst/>
          </a:prstGeom>
          <a:solidFill>
            <a:srgbClr val="EEF3F7"/>
          </a:solidFill>
          <a:ln w="6350">
            <a:solidFill>
              <a:srgbClr val="E1E7E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0" y="3502152"/>
            <a:ext cx="994136" cy="512064"/>
          </a:xfrm>
          <a:prstGeom prst="rect">
            <a:avLst/>
          </a:prstGeom>
          <a:noFill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2019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492216" y="3502152"/>
            <a:ext cx="911291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352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9403507" y="3502152"/>
            <a:ext cx="1118403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62.2%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10521909" y="3502152"/>
            <a:ext cx="1118403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+3.9%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498080" y="4014216"/>
            <a:ext cx="414223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0" y="4014216"/>
            <a:ext cx="994136" cy="512064"/>
          </a:xfrm>
          <a:prstGeom prst="rect">
            <a:avLst/>
          </a:prstGeom>
          <a:noFill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2020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492216" y="4014216"/>
            <a:ext cx="911291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173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9403507" y="4014216"/>
            <a:ext cx="1118403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50.3%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10521909" y="4014216"/>
            <a:ext cx="1118403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7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-11.9%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498080" y="4526280"/>
            <a:ext cx="4142232" cy="512064"/>
          </a:xfrm>
          <a:prstGeom prst="rect">
            <a:avLst/>
          </a:prstGeom>
          <a:solidFill>
            <a:srgbClr val="EEF3F7"/>
          </a:solidFill>
          <a:ln w="6350">
            <a:solidFill>
              <a:srgbClr val="E1E7E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0" y="4526280"/>
            <a:ext cx="994136" cy="512064"/>
          </a:xfrm>
          <a:prstGeom prst="rect">
            <a:avLst/>
          </a:prstGeom>
          <a:noFill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2021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92216" y="4526280"/>
            <a:ext cx="911291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131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9403507" y="4526280"/>
            <a:ext cx="1118403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54.2%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521909" y="4526280"/>
            <a:ext cx="1118403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+3.9%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48640" y="56692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AF1F7"/>
          </a:solidFill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822960" y="5669280"/>
            <a:ext cx="105430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2020 hit both treatment and benefits hard — comparing each year to the last shows just how sharp the drop was.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2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 VS. INDUSTRY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someone lives changes their care rate far more than what industry they work in.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6492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7315200" y="1783080"/>
          <a:ext cx="4325112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7315200" y="4983480"/>
            <a:ext cx="43251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7452360" y="5148072"/>
            <a:ext cx="4050792" cy="6400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7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 pt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7452360" y="5687568"/>
            <a:ext cx="4050792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Difference between tech and non-tech treatment rates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2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WORKPLACE DYNAMICS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 and treatment move together — but openness at work is going the other way.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2956" cy="3291840"/>
          </a:xfrm>
          <a:prstGeom prst="roundRect">
            <a:avLst>
              <a:gd name="adj" fmla="val 2222"/>
            </a:avLst>
          </a:prstGeom>
          <a:solidFill>
            <a:srgbClr val="21295C"/>
          </a:solidFill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49057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Near-Perfect Link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5362956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0.96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722876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 of a possible 1.0 — as benefit coverage goes up, so does treatment-seeking, almost in lockstep.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783080"/>
            <a:ext cx="5362956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05956" y="2011680"/>
            <a:ext cx="490575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Comfort Talking About It</a:t>
            </a:r>
            <a:endParaRPr lang="en-US" sz="15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460236" y="2468880"/>
          <a:ext cx="4997196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AF1F7"/>
          </a:solidFill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" y="5257800"/>
            <a:ext cx="105430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still get help on their own — they're just less comfortable talking about it openly at work.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2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 AWARENESS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Employees who know what support is available feel more comfortable seeking it.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5338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176272"/>
            <a:ext cx="3179064" cy="10515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6.9 / 10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68396"/>
            <a:ext cx="3179064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Comfort level when employees know their resources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67784" y="2011680"/>
            <a:ext cx="345338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04944" y="2176272"/>
            <a:ext cx="3179064" cy="10515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7B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6.2 / 10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04944" y="3168396"/>
            <a:ext cx="3179064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Comfort level when employees don't know their resources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86928" y="2011680"/>
            <a:ext cx="345338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24088" y="2176272"/>
            <a:ext cx="3179064" cy="10515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61.6%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324088" y="3168396"/>
            <a:ext cx="3179064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of respondents based in the United States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EAF1F7"/>
          </a:solidFill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663440"/>
            <a:ext cx="10543032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Offering good benefits and clearly explaining them removes the biggest barriers — cost and not knowing what's available.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2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Three simple steps to improve mental health support.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3384" cy="402336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55292" y="2240280"/>
            <a:ext cx="640080" cy="64008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6" name="Text 4"/>
          <p:cNvSpPr txBox="1"/>
          <p:nvPr/>
        </p:nvSpPr>
        <p:spPr>
          <a:xfrm>
            <a:off x="1955292" y="22402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299618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Offer Benefits to Everyone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2904744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the same mental health coverage to every employee, remote or in-office, to close the 24.6-point gap.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7784" y="1920240"/>
            <a:ext cx="3453384" cy="402336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1" name="Text 9"/>
          <p:cNvSpPr txBox="1"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3108960"/>
            <a:ext cx="299618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Make Resources Easy to Find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42104" y="4023360"/>
            <a:ext cx="2904744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Promote counseling and support programs clearly, so comfort rises from 6.2 to 6.9.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6928" y="1920240"/>
            <a:ext cx="3453384" cy="402336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93580" y="2240280"/>
            <a:ext cx="640080" cy="640080"/>
          </a:xfrm>
          <a:prstGeom prst="ellipse">
            <a:avLst/>
          </a:prstGeom>
          <a:solidFill>
            <a:srgbClr val="C97B2E"/>
          </a:solidFill>
        </p:spPr>
      </p:sp>
      <p:sp>
        <p:nvSpPr>
          <p:cNvPr id="16" name="Text 14"/>
          <p:cNvSpPr txBox="1"/>
          <p:nvPr/>
        </p:nvSpPr>
        <p:spPr>
          <a:xfrm>
            <a:off x="9593580" y="22402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15528" y="3108960"/>
            <a:ext cx="299618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Reduce the Stigma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461248" y="4023360"/>
            <a:ext cx="2904744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managers anonymous, judgment-free ways to talk about mental health, to lift the 21.4% openness low.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2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Four Things to Remember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8581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21408"/>
            <a:ext cx="42428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 Make a Big Difference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483717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Treatment rates jump 24.6 points when employer benefits are available.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828800"/>
            <a:ext cx="538581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28816" y="210312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1" name="Text 9"/>
          <p:cNvSpPr txBox="1"/>
          <p:nvPr/>
        </p:nvSpPr>
        <p:spPr>
          <a:xfrm>
            <a:off x="6528816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68896" y="2121408"/>
            <a:ext cx="42428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Family History Matters Most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528816" y="2788920"/>
            <a:ext cx="483717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It's the single biggest factor, tied to a 77.7% treatment rate.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8581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315968"/>
            <a:ext cx="42428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Location Beats Industry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83480"/>
            <a:ext cx="483717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someone lives can shift the rate by 58 points; tech vs. other industries barely moves 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023360"/>
            <a:ext cx="538581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76200" dist="25400" dir="5400000" algn="bl" rotWithShape="0">
              <a:srgbClr val="9AA7B2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28816" y="4297680"/>
            <a:ext cx="457200" cy="457200"/>
          </a:xfrm>
          <a:prstGeom prst="ellipse">
            <a:avLst/>
          </a:prstGeom>
          <a:solidFill>
            <a:srgbClr val="C97B2E"/>
          </a:solidFill>
        </p:spPr>
      </p:sp>
      <p:sp>
        <p:nvSpPr>
          <p:cNvPr id="21" name="Text 19"/>
          <p:cNvSpPr txBox="1"/>
          <p:nvPr/>
        </p:nvSpPr>
        <p:spPr>
          <a:xfrm>
            <a:off x="6528816" y="4297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168896" y="4315968"/>
            <a:ext cx="42428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Private Yes, Public No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528816" y="4983480"/>
            <a:ext cx="483717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kept seeking treatment after 2020, but they became less open about it at work — down to 21.4%.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2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to Keep in Mind About This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0"/>
            <a:ext cx="960120" cy="320040"/>
          </a:xfrm>
          <a:prstGeom prst="roundRect">
            <a:avLst>
              <a:gd name="adj" fmla="val 48571"/>
            </a:avLst>
          </a:prstGeom>
          <a:solidFill>
            <a:srgbClr val="C0392B"/>
          </a:solidFill>
        </p:spPr>
      </p:sp>
      <p:sp>
        <p:nvSpPr>
          <p:cNvPr id="6" name="Text 4"/>
          <p:cNvSpPr txBox="1"/>
          <p:nvPr/>
        </p:nvSpPr>
        <p:spPr>
          <a:xfrm>
            <a:off x="685800" y="201168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Mostly U.S. Data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920240"/>
            <a:ext cx="48463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61.6% of respondents are U.S.-based, so results may not hold globally.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920240"/>
            <a:ext cx="411480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 Break out results by region.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172968"/>
            <a:ext cx="960120" cy="320040"/>
          </a:xfrm>
          <a:prstGeom prst="roundRect">
            <a:avLst>
              <a:gd name="adj" fmla="val 48571"/>
            </a:avLst>
          </a:prstGeom>
          <a:solidFill>
            <a:srgbClr val="C97B2E"/>
          </a:solidFill>
        </p:spPr>
      </p:sp>
      <p:sp>
        <p:nvSpPr>
          <p:cNvPr id="12" name="Text 10"/>
          <p:cNvSpPr txBox="1"/>
          <p:nvPr/>
        </p:nvSpPr>
        <p:spPr>
          <a:xfrm>
            <a:off x="685800" y="3172968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53872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Shrinking Sample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3081528"/>
            <a:ext cx="48463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Yearly responses fell from 756 in 2017 to just 131 in 2021.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081528"/>
            <a:ext cx="411480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 Flag years with small sample sizes.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51376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334256"/>
            <a:ext cx="960120" cy="320040"/>
          </a:xfrm>
          <a:prstGeom prst="roundRect">
            <a:avLst>
              <a:gd name="adj" fmla="val 48571"/>
            </a:avLst>
          </a:prstGeom>
          <a:solidFill>
            <a:srgbClr val="C97B2E"/>
          </a:solidFill>
        </p:spPr>
      </p:sp>
      <p:sp>
        <p:nvSpPr>
          <p:cNvPr id="18" name="Text 16"/>
          <p:cNvSpPr txBox="1"/>
          <p:nvPr/>
        </p:nvSpPr>
        <p:spPr>
          <a:xfrm>
            <a:off x="685800" y="4334256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70001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 Data Points for Trends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4242816"/>
            <a:ext cx="48463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0.96 correlation is based on only 5 yearly averages.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4242816"/>
            <a:ext cx="411480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 Treat it as a general trend, not a precise number.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312664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5495544"/>
            <a:ext cx="960120" cy="320040"/>
          </a:xfrm>
          <a:prstGeom prst="roundRect">
            <a:avLst>
              <a:gd name="adj" fmla="val 48571"/>
            </a:avLst>
          </a:prstGeom>
          <a:solidFill>
            <a:srgbClr val="065A82"/>
          </a:solidFill>
        </p:spPr>
      </p:sp>
      <p:sp>
        <p:nvSpPr>
          <p:cNvPr id="24" name="Text 22"/>
          <p:cNvSpPr txBox="1"/>
          <p:nvPr/>
        </p:nvSpPr>
        <p:spPr>
          <a:xfrm>
            <a:off x="685800" y="5495544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86130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Cleaned-Up Categories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606040" y="5404104"/>
            <a:ext cx="48463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 entries were manually grouped into standard categories.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5404104"/>
            <a:ext cx="411480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 Already handled in the cleanup step.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2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3" name="Shape 1"/>
          <p:cNvSpPr/>
          <p:nvPr/>
        </p:nvSpPr>
        <p:spPr>
          <a:xfrm>
            <a:off x="-548640" y="-731520"/>
            <a:ext cx="2560320" cy="2560320"/>
          </a:xfrm>
          <a:prstGeom prst="ellipse">
            <a:avLst/>
          </a:prstGeom>
          <a:solidFill>
            <a:srgbClr val="16224A"/>
          </a:solidFill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ANALYSIS PROJECT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Questions &amp; Strategic Discussion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 for reviewing our analysis of mental health support in the tech workforce.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394960"/>
            <a:ext cx="41148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5778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Maria Zaman, Masooma, Faryal  |  OSMI Dataset (2017–2021)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332720" y="5943600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0" name="Text 8"/>
          <p:cNvSpPr txBox="1"/>
          <p:nvPr/>
        </p:nvSpPr>
        <p:spPr>
          <a:xfrm>
            <a:off x="10332720" y="59436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5517</Words>
  <Application>WPS Presentation</Application>
  <PresentationFormat>On-screen Show (16:9)</PresentationFormat>
  <Paragraphs>387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WPS_1776502929</cp:lastModifiedBy>
  <cp:revision>2</cp:revision>
  <dcterms:created xsi:type="dcterms:W3CDTF">2026-09-11T11:52:00Z</dcterms:created>
  <dcterms:modified xsi:type="dcterms:W3CDTF">2026-09-11T11:56:53Z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E96239D1E82C4F6BA9DF1AB6296F188E_12</vt:lpwstr>
  </property>
  <property fmtid="{D5CDD505-2E9C-101B-9397-08002B2CF9AE}" pid="3" name="KSOProductBuildVer">
    <vt:lpwstr>1033-12.1.0.28485</vt:lpwstr>
  </property>
</Properties>
</file>